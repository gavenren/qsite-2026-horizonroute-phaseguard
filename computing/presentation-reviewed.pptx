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bdde3678724882" /><Relationship Type="http://schemas.openxmlformats.org/officeDocument/2006/relationships/extended-properties" Target="/docProps/app.xml" Id="R6a4712564b7d4d44" /><Relationship Type="http://schemas.openxmlformats.org/officeDocument/2006/relationships/officeDocument" Target="/ppt/presentation.xml" Id="Rc70f98ffcdcb4b99" /></Relationships>
</file>

<file path=ppt/presentation.xml><?xml version="1.0" encoding="utf-8"?>
<p:presentation xmlns:p="http://schemas.openxmlformats.org/presentationml/2006/main">
  <p:sldMasterIdLst>
    <p:sldMasterId xmlns:r="http://schemas.openxmlformats.org/officeDocument/2006/relationships" id="2147483648" r:id="R2651eae01c6f4bb7"/>
  </p:sldMasterIdLst>
  <p:notesMasterIdLst>
    <p:notesMasterId xmlns:r="http://schemas.openxmlformats.org/officeDocument/2006/relationships" r:id="Rad01433d47774cd6"/>
  </p:notesMasterIdLst>
  <p:sldIdLst>
    <p:sldId xmlns:r="http://schemas.openxmlformats.org/officeDocument/2006/relationships" id="256" r:id="Re7a823d95c434d65"/>
    <p:sldId xmlns:r="http://schemas.openxmlformats.org/officeDocument/2006/relationships" id="257" r:id="Ra9a2e337102a4577"/>
    <p:sldId xmlns:r="http://schemas.openxmlformats.org/officeDocument/2006/relationships" id="258" r:id="R5e26289dd21d4930"/>
    <p:sldId xmlns:r="http://schemas.openxmlformats.org/officeDocument/2006/relationships" id="259" r:id="Ra66f189509a74daf"/>
    <p:sldId xmlns:r="http://schemas.openxmlformats.org/officeDocument/2006/relationships" id="260" r:id="R773adce859c44c13"/>
    <p:sldId xmlns:r="http://schemas.openxmlformats.org/officeDocument/2006/relationships" id="261" r:id="Rec71d66ec2f74b93"/>
    <p:sldId xmlns:r="http://schemas.openxmlformats.org/officeDocument/2006/relationships" id="262" r:id="Rf25c9af5645242be"/>
    <p:sldId xmlns:r="http://schemas.openxmlformats.org/officeDocument/2006/relationships" id="263" r:id="R85bbc2b3741147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53475050c345a6" /><Relationship Type="http://schemas.openxmlformats.org/officeDocument/2006/relationships/slideMaster" Target="/ppt/slideMasters/slideMaster1.xml" Id="R2651eae01c6f4bb7" /><Relationship Type="http://schemas.openxmlformats.org/officeDocument/2006/relationships/notesMaster" Target="/ppt/notesMasters/notesMaster1.xml" Id="Rad01433d47774cd6" /><Relationship Type="http://schemas.openxmlformats.org/officeDocument/2006/relationships/presProps" Target="/ppt/presProps.xml" Id="Rde736795c17a469a" /><Relationship Type="http://schemas.openxmlformats.org/officeDocument/2006/relationships/tableStyles" Target="/ppt/tableStyles.xml" Id="Rc6cb256bdcc9434c" /><Relationship Type="http://schemas.openxmlformats.org/officeDocument/2006/relationships/slide" Target="/ppt/slides/slide1.xml" Id="Re7a823d95c434d65" /><Relationship Type="http://schemas.openxmlformats.org/officeDocument/2006/relationships/slide" Target="/ppt/slides/slide2.xml" Id="Ra9a2e337102a4577" /><Relationship Type="http://schemas.openxmlformats.org/officeDocument/2006/relationships/slide" Target="/ppt/slides/slide3.xml" Id="R5e26289dd21d4930" /><Relationship Type="http://schemas.openxmlformats.org/officeDocument/2006/relationships/slide" Target="/ppt/slides/slide4.xml" Id="Ra66f189509a74daf" /><Relationship Type="http://schemas.openxmlformats.org/officeDocument/2006/relationships/slide" Target="/ppt/slides/slide5.xml" Id="R773adce859c44c13" /><Relationship Type="http://schemas.openxmlformats.org/officeDocument/2006/relationships/slide" Target="/ppt/slides/slide6.xml" Id="Rec71d66ec2f74b93" /><Relationship Type="http://schemas.openxmlformats.org/officeDocument/2006/relationships/slide" Target="/ppt/slides/slide7.xml" Id="Rf25c9af5645242be" /><Relationship Type="http://schemas.openxmlformats.org/officeDocument/2006/relationships/slide" Target="/ppt/slides/slide8.xml" Id="R85bbc2b3741147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a51b3b1b5a4b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f11e397b1d4563" /><Relationship Type="http://schemas.openxmlformats.org/officeDocument/2006/relationships/notesMaster" Target="/ppt/notesMasters/notesMaster1.xml" Id="R66ff8e69c80846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b4128724f74d92" /><Relationship Type="http://schemas.openxmlformats.org/officeDocument/2006/relationships/notesMaster" Target="/ppt/notesMasters/notesMaster1.xml" Id="R2c8e2ae6dbdf41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02d792e6b04666" /><Relationship Type="http://schemas.openxmlformats.org/officeDocument/2006/relationships/notesMaster" Target="/ppt/notesMasters/notesMaster1.xml" Id="R9289561780e04a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67f8127e32491f" /><Relationship Type="http://schemas.openxmlformats.org/officeDocument/2006/relationships/notesMaster" Target="/ppt/notesMasters/notesMaster1.xml" Id="R4d140e73ae5443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de5c73914849d1" /><Relationship Type="http://schemas.openxmlformats.org/officeDocument/2006/relationships/notesMaster" Target="/ppt/notesMasters/notesMaster1.xml" Id="Re1116e4b89b140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58e6b8c0f945bd" /><Relationship Type="http://schemas.openxmlformats.org/officeDocument/2006/relationships/notesMaster" Target="/ppt/notesMasters/notesMaster1.xml" Id="R63c76e51b6ca4b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62988e0a9b451e" /><Relationship Type="http://schemas.openxmlformats.org/officeDocument/2006/relationships/notesMaster" Target="/ppt/notesMasters/notesMaster1.xml" Id="R40f708a9d37d4f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00c9a2a7a04207" /><Relationship Type="http://schemas.openxmlformats.org/officeDocument/2006/relationships/notesMaster" Target="/ppt/notesMasters/notesMaster1.xml" Id="Rafca67881be040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Horizon Route is a general qubit placement and routing solver for the Q SITE computing challenge. It reduces the public benchmark score from 283 point 5 to 68 point 5. Lower is better. Every output passes the unchanged official checker. The project combines delayed placement with a search over possible routes. This video uses a synthetic voice. OpenAI Codex assisted with implementation, analysis, tests, and writing.</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contains logical qubits and a hardware graph. A two qubit operation can run only between connected physical sites. A SWAP moves two logical states and changes where later operations must run. The output must preserve every input operation in its original order, including single qubit operations. The official score adds the SWAP count to one half of the circuit depth. This means that a route must control both movement and time.</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solver first searches for an embedding of the interaction graph in the hardware graph. A successful embedding needs no SWAPs. Otherwise, the search delays each logical assignment until its first operation. This does not create a state during execution. It assigns a token that was present from the start. After routing, the solver reverses all SWAPs. This recovers a single valid initial placement for the complete program, including states first used late.</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required interaction, the solver explores shortest routes from either endpoint. It keeps a bounded set of candidates instead of choosing the first available path. One ranking uses future interaction distances. A second ranking also estimates the remaining logical dependency depth. The final choice uses the actual measured score. A complete fallback handles feasible disconnected hardware. The solver contains no benchmark names, saved answers, or lookup table of routes.</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six official programs, Horizon Route scores 68 point 5. The supplied baseline scores 283 point 5. This is a reduction of 75 point 84 percent. A stronger comparison method uses static placement search and scores 129 point 5. Horizon Route is 47 point 10 percent lower than that method. The chain and repeated layer cases need zero SWAPs. Each reaches its logical depth lower bound. All routes and measured scores are saved.</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shows the star program. Logical qubit zero must interact with seven targets. The initial placement puts three targets next to the control. After those interactions, the first SWAP moves the control from site thirteen to site fourteen. Later, a second SWAP moves it to site ten. The control reaches the remaining targets in the correct order. The route uses two SWAPs, has depth nine, and scores six point five.</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test groups pass. These include sixty four random programs with mixed operation types. They also test full occupancy, empty programs, unusual labels, disconnected graphs, and invalid inputs. Four additional seed cases score sixty, compared with one hundred sixty one for the official baseline. The default public run took about one hundred one seconds. A smaller search took two point seven nine seconds and scored seventy seven point five. Users can choose this speed and quality tradeoff.</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the required solve function, the unchanged scorer, all measured routes, and an interactive route viewer. The report gives the method, comparisons, sources, and limits. A clean environment can run the tests and reproduce the benchmark table. The bounded search does not prove an optimum for every input. It also does not search every longer detour. Its contribution is a tested general method that sharply reduces the challenge score while preserving the full program.</a:t>
            </a:r>
          </a:p>
          <a:p xmlns:a="http://schemas.openxmlformats.org/drawingml/2006/main">
            <a:r>
              <a:t/>
            </a:r>
          </a:p>
          <a:p xmlns:a="http://schemas.openxmlformats.org/drawingml/2006/main">
            <a:r>
              <a:t>Sources: Project results/benchmark_results.json and unchanged official scorer. Challenge: https://github.com/benmcdonough20/QSITE-2026-QuantumCoalition/tree/a45b04211d4da27dca3c79dbe7009ce58e85dc48 . Routing context: https://arxiv.org/abs/1809.02573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f9c63ea38c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5714a8c35f466c" /><Relationship Type="http://schemas.openxmlformats.org/officeDocument/2006/relationships/slideLayout" Target="/ppt/slideLayouts/slideLayout1.xml" Id="R39fecee11c7b4d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fecee11c7b4d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70f20263cf405b" /><Relationship Type="http://schemas.openxmlformats.org/officeDocument/2006/relationships/notesSlide" Target="/ppt/notesSlides/notesSlide1.xml" Id="Ra7c3a01093864b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b22c4fd6584956" /><Relationship Type="http://schemas.openxmlformats.org/officeDocument/2006/relationships/notesSlide" Target="/ppt/notesSlides/notesSlide2.xml" Id="Ref71a45b5a5143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4bf0af943245bd" /><Relationship Type="http://schemas.openxmlformats.org/officeDocument/2006/relationships/notesSlide" Target="/ppt/notesSlides/notesSlide3.xml" Id="R4918bc785d884e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bae9316b0d4988" /><Relationship Type="http://schemas.openxmlformats.org/officeDocument/2006/relationships/notesSlide" Target="/ppt/notesSlides/notesSlide4.xml" Id="R009183ec2cae4c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fa0a2492b04cc7" /><Relationship Type="http://schemas.openxmlformats.org/officeDocument/2006/relationships/chart" Target="/ppt/slides/charts/chart1.xml" Id="R40653a427d264dd5" /><Relationship Type="http://schemas.openxmlformats.org/officeDocument/2006/relationships/notesSlide" Target="/ppt/notesSlides/notesSlide5.xml" Id="Rb256cde26e4547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31457bc3e6466a" /><Relationship Type="http://schemas.openxmlformats.org/officeDocument/2006/relationships/image" Target="/ppt/media/image.png" Id="R5551a43b8ab143fa" /><Relationship Type="http://schemas.openxmlformats.org/officeDocument/2006/relationships/notesSlide" Target="/ppt/notesSlides/notesSlide6.xml" Id="R827e0727e49a47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3fbb89149d4540" /><Relationship Type="http://schemas.openxmlformats.org/officeDocument/2006/relationships/notesSlide" Target="/ppt/notesSlides/notesSlide7.xml" Id="R3c934e59ee124a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eab010c39f4a40" /><Relationship Type="http://schemas.openxmlformats.org/officeDocument/2006/relationships/notesSlide" Target="/ppt/notesSlides/notesSlide8.xml" Id="R32cc0979443343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score</c:v>
          </c:tx>
          <c:spPr>
            <a:solidFill xmlns:a="http://schemas.openxmlformats.org/drawingml/2006/main">
              <a:srgbClr val="167F83"/>
            </a:solidFill>
          </c:spPr>
          <c:cat>
            <c:strRef>
              <c:f>'Chart Data'!$A$2:$A$4</c:f>
              <c:strCache>
                <c:ptCount val="3"/>
                <c:pt idx="0">
                  <c:v>Official baseline</c:v>
                </c:pt>
                <c:pt idx="1">
                  <c:v>Static placement search</c:v>
                </c:pt>
                <c:pt idx="2">
                  <c:v>HorizonRoute</c:v>
                </c:pt>
              </c:strCache>
            </c:strRef>
          </c:cat>
          <c:val>
            <c:numRef>
              <c:f>'Chart Data'!$B$2:$B$4</c:f>
              <c:numCache>
                <c:formatCode>General</c:formatCode>
                <c:ptCount val="3"/>
                <c:pt idx="0">
                  <c:v>283.5</c:v>
                </c:pt>
                <c:pt idx="1">
                  <c:v>129.5</c:v>
                </c:pt>
                <c:pt idx="2">
                  <c:v>68.5</c:v>
                </c:pt>
              </c:numCache>
            </c:numRef>
          </c:val>
        </c:ser>
        <c:dLbls>
          <c:txPr>
            <a:bodyPr xmlns:a="http://schemas.openxmlformats.org/drawingml/2006/main" anchorCtr="1"/>
            <a:lstStyle xmlns:a="http://schemas.openxmlformats.org/drawingml/2006/main"/>
            <a:p xmlns:a="http://schemas.openxmlformats.org/drawingml/2006/main">
              <a:pPr>
                <a:defRPr sz="2100"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plotVisOnly val="1"/>
  </c:chart>
  <c:spPr>
    <a:solidFill xmlns:a="http://schemas.openxmlformats.org/drawingml/2006/main">
      <a:srgbClr val="FAFB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EFE93A-C3F9-4CFE-843E-1D3BF9BCC7D8}"/>
              </a:ext>
            </a:extLst>
          </p:cNvPr>
          <p:cNvSpPr>
            <a:spLocks xmlns:a="http://schemas.openxmlformats.org/drawingml/2006/main" noGrp="1"/>
          </p:cNvSpPr>
          <p:nvPr/>
        </p:nvSpPr>
        <p:spPr>
          <a:xfrm xmlns:a="http://schemas.openxmlformats.org/drawingml/2006/main">
            <a:off x="609600" y="1333500"/>
            <a:ext cx="10972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02E3B"/>
                </a:solidFill>
                <a:latin typeface="Arial"/>
                <a:ea typeface="Arial"/>
                <a:cs typeface="Arial"/>
              </a:defRPr>
            </a:pPr>
            <a:r>
              <a:rPr sz="5400" b="1">
                <a:solidFill>
                  <a:srgbClr val="102E3B"/>
                </a:solidFill>
                <a:latin typeface="Arial"/>
                <a:ea typeface="Arial"/>
                <a:cs typeface="Arial"/>
              </a:rPr>
              <a:t>HorizonRoute</a:t>
            </a:r>
          </a:p>
        </p:txBody>
      </p:sp>
      <p:sp>
        <p:nvSpPr>
          <p:cNvPr id="2" name="">
            <a:extLst xmlns:a="http://schemas.openxmlformats.org/drawingml/2006/main">
              <a:ext uri="{FF2B5EF4-FFF2-40B4-BE49-F238E27FC236}">
                <a16:creationId xmlns:a16="http://schemas.microsoft.com/office/drawing/2014/main" id="{9C128994-FD9E-4B09-BA9B-ABD11044BFA4}"/>
              </a:ext>
            </a:extLst>
          </p:cNvPr>
          <p:cNvSpPr>
            <a:spLocks xmlns:a="http://schemas.openxmlformats.org/drawingml/2006/main" noGrp="1"/>
          </p:cNvSpPr>
          <p:nvPr/>
        </p:nvSpPr>
        <p:spPr>
          <a:xfrm xmlns:a="http://schemas.openxmlformats.org/drawingml/2006/main">
            <a:off x="647700" y="3105150"/>
            <a:ext cx="104775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544"/>
                </a:solidFill>
                <a:latin typeface="Arial"/>
                <a:ea typeface="Arial"/>
                <a:cs typeface="Arial"/>
              </a:defRPr>
            </a:pPr>
            <a:r>
              <a:rPr sz="2550" b="0">
                <a:solidFill>
                  <a:srgbClr val="183544"/>
                </a:solidFill>
                <a:latin typeface="Arial"/>
                <a:ea typeface="Arial"/>
                <a:cs typeface="Arial"/>
              </a:rPr>
              <a:t>Qubit placement and routing</a:t>
            </a:r>
          </a:p>
          <a:p xmlns:a="http://schemas.openxmlformats.org/drawingml/2006/main">
            <a:pPr>
              <a:defRPr sz="2550" b="0">
                <a:solidFill>
                  <a:srgbClr val="183544"/>
                </a:solidFill>
                <a:latin typeface="Arial"/>
                <a:ea typeface="Arial"/>
                <a:cs typeface="Arial"/>
              </a:defRPr>
            </a:pPr>
            <a:r>
              <a:rPr sz="2550" b="0">
                <a:solidFill>
                  <a:srgbClr val="183544"/>
                </a:solidFill>
                <a:latin typeface="Arial"/>
                <a:ea typeface="Arial"/>
                <a:cs typeface="Arial"/>
              </a:rPr>
              <a:t>Team Gaven</a:t>
            </a:r>
          </a:p>
          <a:p xmlns:a="http://schemas.openxmlformats.org/drawingml/2006/main">
            <a:pPr>
              <a:defRPr sz="2550" b="0">
                <a:solidFill>
                  <a:srgbClr val="183544"/>
                </a:solidFill>
                <a:latin typeface="Arial"/>
                <a:ea typeface="Arial"/>
                <a:cs typeface="Arial"/>
              </a:defRPr>
            </a:pPr>
            <a:r>
              <a:rPr sz="2550" b="0">
                <a:solidFill>
                  <a:srgbClr val="183544"/>
                </a:solidFill>
                <a:latin typeface="Arial"/>
                <a:ea typeface="Arial"/>
                <a:cs typeface="Arial"/>
              </a:rPr>
              <a:t>Q-SITE 2026 computing challenge</a:t>
            </a:r>
          </a:p>
        </p:txBody>
      </p:sp>
      <p:sp>
        <p:nvSpPr>
          <p:cNvPr id="3" name="">
            <a:extLst xmlns:a="http://schemas.openxmlformats.org/drawingml/2006/main">
              <a:ext uri="{FF2B5EF4-FFF2-40B4-BE49-F238E27FC236}">
                <a16:creationId xmlns:a16="http://schemas.microsoft.com/office/drawing/2014/main" id="{C315A3DC-DB18-4CE4-A927-E747B0CB55A9}"/>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AI-assisted project. This video uses a synthetic voice.</a:t>
            </a:r>
          </a:p>
        </p:txBody>
      </p:sp>
      <p:sp>
        <p:nvSpPr>
          <p:cNvPr id="4" name="">
            <a:extLst xmlns:a="http://schemas.openxmlformats.org/drawingml/2006/main">
              <a:ext uri="{FF2B5EF4-FFF2-40B4-BE49-F238E27FC236}">
                <a16:creationId xmlns:a16="http://schemas.microsoft.com/office/drawing/2014/main" id="{11095FA9-47AB-40A1-9A1A-E6BE4678163B}"/>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5" name="">
            <a:extLst xmlns:a="http://schemas.openxmlformats.org/drawingml/2006/main">
              <a:ext uri="{FF2B5EF4-FFF2-40B4-BE49-F238E27FC236}">
                <a16:creationId xmlns:a16="http://schemas.microsoft.com/office/drawing/2014/main" id="{0440EEFC-0D95-47D7-AED0-0EFD28FE5F52}"/>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01</a:t>
            </a:r>
          </a:p>
        </p:txBody>
      </p:sp>
    </p:spTree>
    <p:extLst>
      <p:ext uri="{BB962C8B-B14F-4D97-AF65-F5344CB8AC3E}">
        <p14:creationId xmlns:p14="http://schemas.microsoft.com/office/powerpoint/2010/main" val="638455182"/>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4BFADB-D7C2-4344-9276-D1DBCADDA31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A route must preserve the program</a:t>
            </a:r>
          </a:p>
        </p:txBody>
      </p:sp>
      <p:sp>
        <p:nvSpPr>
          <p:cNvPr id="2" name="">
            <a:extLst xmlns:a="http://schemas.openxmlformats.org/drawingml/2006/main">
              <a:ext uri="{FF2B5EF4-FFF2-40B4-BE49-F238E27FC236}">
                <a16:creationId xmlns:a16="http://schemas.microsoft.com/office/drawing/2014/main" id="{D8B6B24B-D310-4D2D-A4CD-DC7AB6E0D84E}"/>
              </a:ext>
            </a:extLst>
          </p:cNvPr>
          <p:cNvSpPr>
            <a:spLocks xmlns:a="http://schemas.openxmlformats.org/drawingml/2006/main" noGrp="1"/>
          </p:cNvSpPr>
          <p:nvPr/>
        </p:nvSpPr>
        <p:spPr>
          <a:xfrm xmlns:a="http://schemas.openxmlformats.org/drawingml/2006/main">
            <a:off x="685800" y="1695450"/>
            <a:ext cx="1066800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Every two-qubit gate must use a hardware edge.</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Keep every input operation in its original order.</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Score = SWAP count + 0.5 × depth</a:t>
            </a:r>
          </a:p>
        </p:txBody>
      </p:sp>
      <p:sp>
        <p:nvSpPr>
          <p:cNvPr id="3" name="">
            <a:extLst xmlns:a="http://schemas.openxmlformats.org/drawingml/2006/main">
              <a:ext uri="{FF2B5EF4-FFF2-40B4-BE49-F238E27FC236}">
                <a16:creationId xmlns:a16="http://schemas.microsoft.com/office/drawing/2014/main" id="{7DE30EA3-E494-4C66-AAF9-8F0DEA7ABC62}"/>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4" name="">
            <a:extLst xmlns:a="http://schemas.openxmlformats.org/drawingml/2006/main">
              <a:ext uri="{FF2B5EF4-FFF2-40B4-BE49-F238E27FC236}">
                <a16:creationId xmlns:a16="http://schemas.microsoft.com/office/drawing/2014/main" id="{A33347BD-D925-4FDD-B994-2B5E619A5D82}"/>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02</a:t>
            </a:r>
          </a:p>
        </p:txBody>
      </p:sp>
    </p:spTree>
    <p:extLst>
      <p:ext uri="{BB962C8B-B14F-4D97-AF65-F5344CB8AC3E}">
        <p14:creationId xmlns:p14="http://schemas.microsoft.com/office/powerpoint/2010/main" val="1473369322"/>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27B342-8660-4DD0-A5C9-86D0686A9E6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Placement remains open during search</a:t>
            </a:r>
          </a:p>
        </p:txBody>
      </p:sp>
      <p:sp>
        <p:nvSpPr>
          <p:cNvPr id="2" name="">
            <a:extLst xmlns:a="http://schemas.openxmlformats.org/drawingml/2006/main">
              <a:ext uri="{FF2B5EF4-FFF2-40B4-BE49-F238E27FC236}">
                <a16:creationId xmlns:a16="http://schemas.microsoft.com/office/drawing/2014/main" id="{A7C7BF14-5E87-4F4A-ABEF-7144B32F0A4F}"/>
              </a:ext>
            </a:extLst>
          </p:cNvPr>
          <p:cNvSpPr>
            <a:spLocks xmlns:a="http://schemas.openxmlformats.org/drawingml/2006/main" noGrp="1"/>
          </p:cNvSpPr>
          <p:nvPr/>
        </p:nvSpPr>
        <p:spPr>
          <a:xfrm xmlns:a="http://schemas.openxmlformats.org/drawingml/2006/main">
            <a:off x="685800" y="1695450"/>
            <a:ext cx="1066800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First, test for a placement with zero SWAPs.</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Otherwise, assign a logical token at its first use.</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Reverse the final SWAP sequence to recover its initial site.</a:t>
            </a:r>
          </a:p>
        </p:txBody>
      </p:sp>
      <p:sp>
        <p:nvSpPr>
          <p:cNvPr id="3" name="">
            <a:extLst xmlns:a="http://schemas.openxmlformats.org/drawingml/2006/main">
              <a:ext uri="{FF2B5EF4-FFF2-40B4-BE49-F238E27FC236}">
                <a16:creationId xmlns:a16="http://schemas.microsoft.com/office/drawing/2014/main" id="{DBF11498-197A-4D52-9C29-8C34A1A31FE9}"/>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4" name="">
            <a:extLst xmlns:a="http://schemas.openxmlformats.org/drawingml/2006/main">
              <a:ext uri="{FF2B5EF4-FFF2-40B4-BE49-F238E27FC236}">
                <a16:creationId xmlns:a16="http://schemas.microsoft.com/office/drawing/2014/main" id="{8A5ED983-FF53-4D0B-B2AA-DA5FC7980B24}"/>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03</a:t>
            </a:r>
          </a:p>
        </p:txBody>
      </p:sp>
    </p:spTree>
    <p:extLst>
      <p:ext uri="{BB962C8B-B14F-4D97-AF65-F5344CB8AC3E}">
        <p14:creationId xmlns:p14="http://schemas.microsoft.com/office/powerpoint/2010/main" val="870966148"/>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737A60-58B7-41D5-996B-D6F71ACCA46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The search considers later operations</a:t>
            </a:r>
          </a:p>
        </p:txBody>
      </p:sp>
      <p:sp>
        <p:nvSpPr>
          <p:cNvPr id="2" name="">
            <a:extLst xmlns:a="http://schemas.openxmlformats.org/drawingml/2006/main">
              <a:ext uri="{FF2B5EF4-FFF2-40B4-BE49-F238E27FC236}">
                <a16:creationId xmlns:a16="http://schemas.microsoft.com/office/drawing/2014/main" id="{79E37B14-761C-492E-B9B9-C1ED5271E62E}"/>
              </a:ext>
            </a:extLst>
          </p:cNvPr>
          <p:cNvSpPr>
            <a:spLocks xmlns:a="http://schemas.openxmlformats.org/drawingml/2006/main" noGrp="1"/>
          </p:cNvSpPr>
          <p:nvPr/>
        </p:nvSpPr>
        <p:spPr>
          <a:xfrm xmlns:a="http://schemas.openxmlformats.org/drawingml/2006/main">
            <a:off x="685800" y="1695450"/>
            <a:ext cx="1066800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Keep several candidate routes.</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Move either endpoint along a shortest route.</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Compare distance estimates and remaining dependency depth.</a:t>
            </a:r>
          </a:p>
        </p:txBody>
      </p:sp>
      <p:sp>
        <p:nvSpPr>
          <p:cNvPr id="3" name="">
            <a:extLst xmlns:a="http://schemas.openxmlformats.org/drawingml/2006/main">
              <a:ext uri="{FF2B5EF4-FFF2-40B4-BE49-F238E27FC236}">
                <a16:creationId xmlns:a16="http://schemas.microsoft.com/office/drawing/2014/main" id="{68848823-85F7-4FE3-9974-4E569D9CE013}"/>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4" name="">
            <a:extLst xmlns:a="http://schemas.openxmlformats.org/drawingml/2006/main">
              <a:ext uri="{FF2B5EF4-FFF2-40B4-BE49-F238E27FC236}">
                <a16:creationId xmlns:a16="http://schemas.microsoft.com/office/drawing/2014/main" id="{700ECE25-8BE0-4010-8916-28676D6D8AE2}"/>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04</a:t>
            </a:r>
          </a:p>
        </p:txBody>
      </p:sp>
    </p:spTree>
    <p:extLst>
      <p:ext uri="{BB962C8B-B14F-4D97-AF65-F5344CB8AC3E}">
        <p14:creationId xmlns:p14="http://schemas.microsoft.com/office/powerpoint/2010/main" val="67828160"/>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4387F8-3765-4977-8D01-82ECA7B4FC7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Public benchmark score</a:t>
            </a:r>
          </a:p>
        </p:txBody>
      </p:sp>
      <p:graphicFrame>
        <p:nvGraphicFramePr>
          <p:cNvPr id="7" name="Chart"/>
          <p:cNvGraphicFramePr/>
          <p:nvPr/>
        </p:nvGraphicFramePr>
        <p:xfrm>
          <a:off xmlns:a="http://schemas.openxmlformats.org/drawingml/2006/main" x="762000" y="1524000"/>
          <a:ext xmlns:a="http://schemas.openxmlformats.org/drawingml/2006/main" cx="10668000" cy="4171950"/>
        </p:xfrm>
        <a:graphic xmlns:a="http://schemas.openxmlformats.org/drawingml/2006/main">
          <a:graphicData uri="http://schemas.openxmlformats.org/drawingml/2006/chart">
            <c:chart xmlns:r="http://schemas.openxmlformats.org/officeDocument/2006/relationships" xmlns:c="http://schemas.openxmlformats.org/drawingml/2006/chart" r:id="R40653a427d264dd5"/>
          </a:graphicData>
        </a:graphic>
      </p:graphicFrame>
      <p:sp>
        <p:nvSpPr>
          <p:cNvPr id="3" name="">
            <a:extLst xmlns:a="http://schemas.openxmlformats.org/drawingml/2006/main">
              <a:ext uri="{FF2B5EF4-FFF2-40B4-BE49-F238E27FC236}">
                <a16:creationId xmlns:a16="http://schemas.microsoft.com/office/drawing/2014/main" id="{8B551670-A18E-489D-A038-E4B81EA4462A}"/>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Six official cases. Lower is better. Same graph and unchanged scorer.</a:t>
            </a:r>
          </a:p>
        </p:txBody>
      </p:sp>
      <p:sp>
        <p:nvSpPr>
          <p:cNvPr id="4" name="">
            <a:extLst xmlns:a="http://schemas.openxmlformats.org/drawingml/2006/main">
              <a:ext uri="{FF2B5EF4-FFF2-40B4-BE49-F238E27FC236}">
                <a16:creationId xmlns:a16="http://schemas.microsoft.com/office/drawing/2014/main" id="{F324EDB8-7FD5-4497-873C-B296163C48EA}"/>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5" name="">
            <a:extLst xmlns:a="http://schemas.openxmlformats.org/drawingml/2006/main">
              <a:ext uri="{FF2B5EF4-FFF2-40B4-BE49-F238E27FC236}">
                <a16:creationId xmlns:a16="http://schemas.microsoft.com/office/drawing/2014/main" id="{43088B72-3B89-4C9F-A860-659878058486}"/>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05</a:t>
            </a:r>
          </a:p>
        </p:txBody>
      </p:sp>
    </p:spTree>
    <p:extLst>
      <p:ext uri="{BB962C8B-B14F-4D97-AF65-F5344CB8AC3E}">
        <p14:creationId xmlns:p14="http://schemas.microsoft.com/office/powerpoint/2010/main" val="850423050"/>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3D0A3E-E81E-47FF-9CDA-C0AB06A8CB1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A two-SWAP star route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551a43b8ab143fa"/>
          <a:stretch xmlns:a="http://schemas.openxmlformats.org/drawingml/2006/main"/>
        </p:blipFill>
        <p:spPr>
          <a:xfrm xmlns:a="http://schemas.openxmlformats.org/drawingml/2006/main">
            <a:off x="523875" y="1364456"/>
            <a:ext cx="11144250" cy="464343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5CE3D21-552C-4C85-B16C-9C700B846135}"/>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The moving logical control is L0. All seven required interactions remain in order.</a:t>
            </a:r>
          </a:p>
        </p:txBody>
      </p:sp>
      <p:sp>
        <p:nvSpPr>
          <p:cNvPr id="4" name="">
            <a:extLst xmlns:a="http://schemas.openxmlformats.org/drawingml/2006/main">
              <a:ext uri="{FF2B5EF4-FFF2-40B4-BE49-F238E27FC236}">
                <a16:creationId xmlns:a16="http://schemas.microsoft.com/office/drawing/2014/main" id="{61D8AA59-559D-481D-8F77-1518E67DDAF4}"/>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5" name="">
            <a:extLst xmlns:a="http://schemas.openxmlformats.org/drawingml/2006/main">
              <a:ext uri="{FF2B5EF4-FFF2-40B4-BE49-F238E27FC236}">
                <a16:creationId xmlns:a16="http://schemas.microsoft.com/office/drawing/2014/main" id="{DFE17848-F6EA-4531-88F7-B50FC8619095}"/>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06</a:t>
            </a:r>
          </a:p>
        </p:txBody>
      </p:sp>
    </p:spTree>
    <p:extLst>
      <p:ext uri="{BB962C8B-B14F-4D97-AF65-F5344CB8AC3E}">
        <p14:creationId xmlns:p14="http://schemas.microsoft.com/office/powerpoint/2010/main" val="1314649329"/>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8693E7-8520-48AF-B409-D3701923022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Checks and search cost</a:t>
            </a:r>
          </a:p>
        </p:txBody>
      </p:sp>
      <p:sp>
        <p:nvSpPr>
          <p:cNvPr id="2" name="">
            <a:extLst xmlns:a="http://schemas.openxmlformats.org/drawingml/2006/main">
              <a:ext uri="{FF2B5EF4-FFF2-40B4-BE49-F238E27FC236}">
                <a16:creationId xmlns:a16="http://schemas.microsoft.com/office/drawing/2014/main" id="{FA556E59-5D3B-48A0-B444-E8D039148971}"/>
              </a:ext>
            </a:extLst>
          </p:cNvPr>
          <p:cNvSpPr>
            <a:spLocks xmlns:a="http://schemas.openxmlformats.org/drawingml/2006/main" noGrp="1"/>
          </p:cNvSpPr>
          <p:nvPr/>
        </p:nvSpPr>
        <p:spPr>
          <a:xfrm xmlns:a="http://schemas.openxmlformats.org/drawingml/2006/main">
            <a:off x="685800" y="1695450"/>
            <a:ext cx="1066800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10 test groups pass, including 64 random cases.</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Four additional seed cases score 60.0 versus 161.0.</a:t>
            </a:r>
          </a:p>
          <a:p xmlns:a="http://schemas.openxmlformats.org/drawingml/2006/main">
            <a:r>
              <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Default: 100.82 s. Small search: 2.79 s.</a:t>
            </a:r>
          </a:p>
        </p:txBody>
      </p:sp>
      <p:sp>
        <p:nvSpPr>
          <p:cNvPr id="3" name="">
            <a:extLst xmlns:a="http://schemas.openxmlformats.org/drawingml/2006/main">
              <a:ext uri="{FF2B5EF4-FFF2-40B4-BE49-F238E27FC236}">
                <a16:creationId xmlns:a16="http://schemas.microsoft.com/office/drawing/2014/main" id="{B7F98178-8418-46B4-96BB-549048CF1D3A}"/>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Run times cover the six public cases on this computer. Additional seed cases are not organizer test cases.</a:t>
            </a:r>
          </a:p>
        </p:txBody>
      </p:sp>
      <p:sp>
        <p:nvSpPr>
          <p:cNvPr id="4" name="">
            <a:extLst xmlns:a="http://schemas.openxmlformats.org/drawingml/2006/main">
              <a:ext uri="{FF2B5EF4-FFF2-40B4-BE49-F238E27FC236}">
                <a16:creationId xmlns:a16="http://schemas.microsoft.com/office/drawing/2014/main" id="{C3594C8F-1458-4757-B8CB-DFBB94A1A484}"/>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5" name="">
            <a:extLst xmlns:a="http://schemas.openxmlformats.org/drawingml/2006/main">
              <a:ext uri="{FF2B5EF4-FFF2-40B4-BE49-F238E27FC236}">
                <a16:creationId xmlns:a16="http://schemas.microsoft.com/office/drawing/2014/main" id="{638B1DC7-266D-4049-A11E-4EF008CAC0AD}"/>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07</a:t>
            </a:r>
          </a:p>
        </p:txBody>
      </p:sp>
    </p:spTree>
    <p:extLst>
      <p:ext uri="{BB962C8B-B14F-4D97-AF65-F5344CB8AC3E}">
        <p14:creationId xmlns:p14="http://schemas.microsoft.com/office/powerpoint/2010/main" val="858204575"/>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4C0072-60F3-4274-B2BC-0FCAD9E05DE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A complete and repeatable result</a:t>
            </a:r>
          </a:p>
        </p:txBody>
      </p:sp>
      <p:sp>
        <p:nvSpPr>
          <p:cNvPr id="2" name="">
            <a:extLst xmlns:a="http://schemas.openxmlformats.org/drawingml/2006/main">
              <a:ext uri="{FF2B5EF4-FFF2-40B4-BE49-F238E27FC236}">
                <a16:creationId xmlns:a16="http://schemas.microsoft.com/office/drawing/2014/main" id="{70C206BE-6EA3-41CC-BC34-F490A2C4DC7F}"/>
              </a:ext>
            </a:extLst>
          </p:cNvPr>
          <p:cNvSpPr>
            <a:spLocks xmlns:a="http://schemas.openxmlformats.org/drawingml/2006/main" noGrp="1"/>
          </p:cNvSpPr>
          <p:nvPr/>
        </p:nvSpPr>
        <p:spPr>
          <a:xfrm xmlns:a="http://schemas.openxmlformats.org/drawingml/2006/main">
            <a:off x="685800" y="1695450"/>
            <a:ext cx="1066800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Source code and unchanged scorer</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Measured routes, layers, and run times</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Interactive route viewer</a:t>
            </a:r>
          </a:p>
          <a:p xmlns:a="http://schemas.openxmlformats.org/drawingml/2006/main">
            <a:pPr>
              <a:defRPr sz="2700" b="0">
                <a:solidFill>
                  <a:srgbClr val="183544"/>
                </a:solidFill>
                <a:latin typeface="Arial"/>
                <a:ea typeface="Arial"/>
                <a:cs typeface="Arial"/>
              </a:defRPr>
            </a:pPr>
            <a:r>
              <a:rPr sz="2700" b="0">
                <a:solidFill>
                  <a:srgbClr val="183544"/>
                </a:solidFill>
                <a:latin typeface="Arial"/>
                <a:ea typeface="Arial"/>
                <a:cs typeface="Arial"/>
              </a:rPr>
              <a:t>Report and setup instructions</a:t>
            </a:r>
          </a:p>
        </p:txBody>
      </p:sp>
      <p:sp>
        <p:nvSpPr>
          <p:cNvPr id="3" name="">
            <a:extLst xmlns:a="http://schemas.openxmlformats.org/drawingml/2006/main">
              <a:ext uri="{FF2B5EF4-FFF2-40B4-BE49-F238E27FC236}">
                <a16:creationId xmlns:a16="http://schemas.microsoft.com/office/drawing/2014/main" id="{4B01CF79-4616-475A-881E-22D8F961FC98}"/>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Bounded search. No general optimality claim. Sources and AI use are stated in the report.</a:t>
            </a:r>
          </a:p>
        </p:txBody>
      </p:sp>
      <p:sp>
        <p:nvSpPr>
          <p:cNvPr id="4" name="">
            <a:extLst xmlns:a="http://schemas.openxmlformats.org/drawingml/2006/main">
              <a:ext uri="{FF2B5EF4-FFF2-40B4-BE49-F238E27FC236}">
                <a16:creationId xmlns:a16="http://schemas.microsoft.com/office/drawing/2014/main" id="{ADCEAD43-FE00-4D3E-A34A-89368F9C2BD4}"/>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HorizonRoute  /  Q-SITE 2026</a:t>
            </a:r>
          </a:p>
        </p:txBody>
      </p:sp>
      <p:sp>
        <p:nvSpPr>
          <p:cNvPr id="5" name="">
            <a:extLst xmlns:a="http://schemas.openxmlformats.org/drawingml/2006/main">
              <a:ext uri="{FF2B5EF4-FFF2-40B4-BE49-F238E27FC236}">
                <a16:creationId xmlns:a16="http://schemas.microsoft.com/office/drawing/2014/main" id="{44E87B10-CB10-48DE-AE7D-A65A40406C5A}"/>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08</a:t>
            </a:r>
          </a:p>
        </p:txBody>
      </p:sp>
    </p:spTree>
    <p:extLst>
      <p:ext uri="{BB962C8B-B14F-4D97-AF65-F5344CB8AC3E}">
        <p14:creationId xmlns:p14="http://schemas.microsoft.com/office/powerpoint/2010/main" val="581190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2026-09-26T00:22:18.1010000Z</dcterms:created>
  <dcterms:modified xsi:type="dcterms:W3CDTF">2026-09-26T00:22:18.1010000Z</dcterms:modified>
</coreProperties>
</file>
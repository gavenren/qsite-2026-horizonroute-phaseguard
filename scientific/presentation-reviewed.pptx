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0737896fbc41cf" /><Relationship Type="http://schemas.openxmlformats.org/officeDocument/2006/relationships/extended-properties" Target="/docProps/app.xml" Id="R058550bd29b04a61" /><Relationship Type="http://schemas.openxmlformats.org/officeDocument/2006/relationships/officeDocument" Target="/ppt/presentation.xml" Id="R1258d632c1824bcc" /></Relationships>
</file>

<file path=ppt/presentation.xml><?xml version="1.0" encoding="utf-8"?>
<p:presentation xmlns:p="http://schemas.openxmlformats.org/presentationml/2006/main">
  <p:sldMasterIdLst>
    <p:sldMasterId xmlns:r="http://schemas.openxmlformats.org/officeDocument/2006/relationships" id="2147483648" r:id="Rf9006947508c42b4"/>
  </p:sldMasterIdLst>
  <p:notesMasterIdLst>
    <p:notesMasterId xmlns:r="http://schemas.openxmlformats.org/officeDocument/2006/relationships" r:id="Rfd478b606ea748cc"/>
  </p:notesMasterIdLst>
  <p:sldIdLst>
    <p:sldId xmlns:r="http://schemas.openxmlformats.org/officeDocument/2006/relationships" id="256" r:id="R59f877d3d20446b7"/>
    <p:sldId xmlns:r="http://schemas.openxmlformats.org/officeDocument/2006/relationships" id="257" r:id="Rdcbcfda8f1c4447a"/>
    <p:sldId xmlns:r="http://schemas.openxmlformats.org/officeDocument/2006/relationships" id="258" r:id="R1a1760d7063b4599"/>
    <p:sldId xmlns:r="http://schemas.openxmlformats.org/officeDocument/2006/relationships" id="259" r:id="R1c4b8d1abfe044b1"/>
    <p:sldId xmlns:r="http://schemas.openxmlformats.org/officeDocument/2006/relationships" id="260" r:id="Rb5d555c72708441d"/>
    <p:sldId xmlns:r="http://schemas.openxmlformats.org/officeDocument/2006/relationships" id="261" r:id="Rfcd08f936a8a47fa"/>
    <p:sldId xmlns:r="http://schemas.openxmlformats.org/officeDocument/2006/relationships" id="262" r:id="Rf6b2112b0aef4532"/>
    <p:sldId xmlns:r="http://schemas.openxmlformats.org/officeDocument/2006/relationships" id="263" r:id="Ra93e19d8113047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fe7b3470854f03" /><Relationship Type="http://schemas.openxmlformats.org/officeDocument/2006/relationships/slideMaster" Target="/ppt/slideMasters/slideMaster1.xml" Id="Rf9006947508c42b4" /><Relationship Type="http://schemas.openxmlformats.org/officeDocument/2006/relationships/notesMaster" Target="/ppt/notesMasters/notesMaster1.xml" Id="Rfd478b606ea748cc" /><Relationship Type="http://schemas.openxmlformats.org/officeDocument/2006/relationships/presProps" Target="/ppt/presProps.xml" Id="R377b778fe44d45f5" /><Relationship Type="http://schemas.openxmlformats.org/officeDocument/2006/relationships/tableStyles" Target="/ppt/tableStyles.xml" Id="Rbcddb67fc4234d0c" /><Relationship Type="http://schemas.openxmlformats.org/officeDocument/2006/relationships/slide" Target="/ppt/slides/slide1.xml" Id="R59f877d3d20446b7" /><Relationship Type="http://schemas.openxmlformats.org/officeDocument/2006/relationships/slide" Target="/ppt/slides/slide2.xml" Id="Rdcbcfda8f1c4447a" /><Relationship Type="http://schemas.openxmlformats.org/officeDocument/2006/relationships/slide" Target="/ppt/slides/slide3.xml" Id="R1a1760d7063b4599" /><Relationship Type="http://schemas.openxmlformats.org/officeDocument/2006/relationships/slide" Target="/ppt/slides/slide4.xml" Id="R1c4b8d1abfe044b1" /><Relationship Type="http://schemas.openxmlformats.org/officeDocument/2006/relationships/slide" Target="/ppt/slides/slide5.xml" Id="Rb5d555c72708441d" /><Relationship Type="http://schemas.openxmlformats.org/officeDocument/2006/relationships/slide" Target="/ppt/slides/slide6.xml" Id="Rfcd08f936a8a47fa" /><Relationship Type="http://schemas.openxmlformats.org/officeDocument/2006/relationships/slide" Target="/ppt/slides/slide7.xml" Id="Rf6b2112b0aef4532" /><Relationship Type="http://schemas.openxmlformats.org/officeDocument/2006/relationships/slide" Target="/ppt/slides/slide8.xml" Id="Ra93e19d8113047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30f4e7b02a43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6c2864d9444d9a" /><Relationship Type="http://schemas.openxmlformats.org/officeDocument/2006/relationships/notesMaster" Target="/ppt/notesMasters/notesMaster1.xml" Id="R55d99d27b2d947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e87ccd633144a2" /><Relationship Type="http://schemas.openxmlformats.org/officeDocument/2006/relationships/notesMaster" Target="/ppt/notesMasters/notesMaster1.xml" Id="R818d5ca1fc394e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a6c807a0d4d51" /><Relationship Type="http://schemas.openxmlformats.org/officeDocument/2006/relationships/notesMaster" Target="/ppt/notesMasters/notesMaster1.xml" Id="R064f8e87822d4f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a1effd6d084d55" /><Relationship Type="http://schemas.openxmlformats.org/officeDocument/2006/relationships/notesMaster" Target="/ppt/notesMasters/notesMaster1.xml" Id="R0fe5a787b42142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7b1150dbd6428a" /><Relationship Type="http://schemas.openxmlformats.org/officeDocument/2006/relationships/notesMaster" Target="/ppt/notesMasters/notesMaster1.xml" Id="Re6937421b39644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dc14e60afe487b" /><Relationship Type="http://schemas.openxmlformats.org/officeDocument/2006/relationships/notesMaster" Target="/ppt/notesMasters/notesMaster1.xml" Id="R9b30c17bbf1f4b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67ce9e186b4965" /><Relationship Type="http://schemas.openxmlformats.org/officeDocument/2006/relationships/notesMaster" Target="/ppt/notesMasters/notesMaster1.xml" Id="Rf46a1232488041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7a8fb70cbd481c" /><Relationship Type="http://schemas.openxmlformats.org/officeDocument/2006/relationships/notesMaster" Target="/ppt/notesMasters/notesMaster1.xml" Id="R113065f21b044c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quantum phase map can look wrong for two different reasons. The model can change its ground state. Or the circuit can lose the signal that identifies that state. PhaseGuard separates these effects. We study the ANNNI chain from the challenge. We map clean states, prepare them with quantum circuits, and add the required gate noise. Our main result is that circuit design controls detectable order. A circuit with twenty-eight CNOT gates keeps most ordered labels at one-percent noise. A much longer exact-state loader loses them all. This video uses a synthetic voice. OpenAI Codex assisted with this project.</a:t>
            </a:r>
          </a:p>
          <a:p xmlns:a="http://schemas.openxmlformats.org/drawingml/2006/main">
            <a:r>
              <a:t/>
            </a:r>
          </a:p>
          <a:p xmlns:a="http://schemas.openxmlformats.org/drawingml/2006/main">
            <a:r>
              <a:t>Sources: Measured project data, saved circuit parameters, and report.md. Challenge: https://github.com/benmcdonough20/QSITE-2026-QuantumCoalition . PennyLane ANNNI demo: https://pennylane.ai/demos/tutorial_annni . Cea et al.: https://arxiv.org/abs/2402.11022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ANNNI model has three competing terms. Neighboring spins prefer to align. Frustration favors the up, up, down, down pattern. The transverse field favors alignment along a different direction. We scan frustration from zero to one and field from zero to two. Our clean reference has twelve spins and forty-one points on each axis. We also compare eight, twelve, and sixteen spins. The solver uses the exact even symmetry sector. This prevents numerical mixing of nearly equal states from creating false transition signals. The multicritical point has many ground states, so we do not assign it a unique phase.</a:t>
            </a:r>
          </a:p>
          <a:p xmlns:a="http://schemas.openxmlformats.org/drawingml/2006/main">
            <a:r>
              <a:t/>
            </a:r>
          </a:p>
          <a:p xmlns:a="http://schemas.openxmlformats.org/drawingml/2006/main">
            <a:r>
              <a:t>Sources: Project data/grid_N12.npz and phaseguard.py. Hamiltonian and reference context: https://pennylane.ai/demos/tutorial_annni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finite ordered state can have zero average magnetization. Therefore, we use spin correlations. One signal detects uniform order. The other detects the period-four antiphase. Both signals have a known ordered limit and an uncorrelated limit. We fix the decision threshold at the known Ising critical point. We keep it when noise is added. Fidelity susceptibility gives a second phase signal. At frustration zero point three, the exact order estimate moves toward the reference as the system grows. The antiphase side has larger size effects. These checks prevent us from treating one small-system map as an exact infinite-chain result.</a:t>
            </a:r>
          </a:p>
          <a:p xmlns:a="http://schemas.openxmlformats.org/drawingml/2006/main">
            <a:r>
              <a:t/>
            </a:r>
          </a:p>
          <a:p xmlns:a="http://schemas.openxmlformats.org/drawingml/2006/main">
            <a:r>
              <a:t>Sources: Project data/line_cuts.json. Finite-size and floating-phase context: Cea et al., https://arxiv.org/abs/2402.11022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noisy map has eight spins and fifteen points on each axis. A variational circuit has four layers, thirty-two rotations, and twenty-eight CNOT gates. Clean training minimizes energy with a known symmetry constraint. It does not optimize target-state fidelity. We then keep those parameters fixed. After every CNOT, we apply the required depolarizing channel to its target. Every circuit starts in the zero state. We simulate the complete noisy preparation. A fast density-matrix simulator agrees with PennyLane checks to about twelve decimal places. All parameters and optimizer stop records are saved.</a:t>
            </a:r>
          </a:p>
          <a:p xmlns:a="http://schemas.openxmlformats.org/drawingml/2006/main">
            <a:r>
              <a:t/>
            </a:r>
          </a:p>
          <a:p xmlns:a="http://schemas.openxmlformats.org/drawingml/2006/main">
            <a:r>
              <a:t>Sources: Project variational_map/run_map.py, variational_map/variational_grid_N8.npz, and variational_map/audit.json. Channel convention: https://docs.pennylane.ai/en/stable/code/api/pennylane.DepolarizingChannel.html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map has thirty-four ferromagnetic labels and thirty-six antiphase labels. At one-percent gate noise, these become thirty-three and thirty-four. Thus most ordered points remain visible. At the Ising end, the interpolated detection boundary moves from field one point zero zero to about zero point nine two. Ferro label retention is ninety-seven point one percent. Antiphase label retention is ninety-four point four percent. The grid is coarse, so these are approximate threshold estimates. At five-percent noise, no point passes the ordered threshold. That means the detector cannot resolve order. It does not mean a measured thermodynamic transition moved to zero field. Mean state fidelity falls much more than label agreement, which shows why both checks matter.</a:t>
            </a:r>
          </a:p>
          <a:p xmlns:a="http://schemas.openxmlformats.org/drawingml/2006/main">
            <a:r>
              <a:t/>
            </a:r>
          </a:p>
          <a:p xmlns:a="http://schemas.openxmlformats.org/drawingml/2006/main">
            <a:r>
              <a:t>Sources: Project variational_map/variational_grid_N8.npz, variational_map/audit.json, and data/variational_summary.json. Thresholds stay fixed under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comparison, PennyLane builds an exact state loader with two hundred and fifty-four CNOT gates. We test it on a twenty-one by twenty-one grid. At one-percent noise, every strong-order label disappears. Three same-point controls show the difference clearly. The short circuit gives state fidelities near eighty percent. Exact loading gives only about fifteen to nineteen percent. Both use the same error probability after each CNOT. This is evidence for a lower gate budget. It is not a universal rule that one phase is more fragile. Some phase errors reduce fidelity while leaving the measured spin correlations almost unchanged.</a:t>
            </a:r>
          </a:p>
          <a:p xmlns:a="http://schemas.openxmlformats.org/drawingml/2006/main">
            <a:r>
              <a:t/>
            </a:r>
          </a:p>
          <a:p xmlns:a="http://schemas.openxmlformats.org/drawingml/2006/main">
            <a:r>
              <a:t>Sources: Project variational_control/comparison.json. Exact-loader method: https://docs.pennylane.ai/en/stable/code/api/pennylane.MottonenStatePreparation.html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repeat the exact-loader experiment at twice the noise and use linear zero-noise extrapolation. At one-percent noise, it restores ninety-nine of the one hundred and twenty-seven clean ordered labels. It adds no false ordered labels. Overall label agreement improves from seventy-one point two percent to ninety-three point seven percent. The correlation error also decreases. At five-percent noise, no ordered label returns. The accumulated error is too large for this simple correction. This is a simulated noise-scaling test, not a hardware result. With equal independent measurement variance, the extrapolation would multiply that variance by five.</a:t>
            </a:r>
          </a:p>
          <a:p xmlns:a="http://schemas.openxmlformats.org/drawingml/2006/main">
            <a:r>
              <a:t/>
            </a:r>
          </a:p>
          <a:p xmlns:a="http://schemas.openxmlformats.org/drawingml/2006/main">
            <a:r>
              <a:t>Sources: Project data/mitigation_grid_N8.npz and data/summary.json. Linear zero-noise extrapolation context: Temme et al., https://arxiv.org/abs/1612.02058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variational labels match exact labels at two hundred and twenty-one of two hundred and twenty-five points. However, twelve positive-field points have clean fidelity below ninety-five percent. We mark them as preparation-uncertain. We also test finite measurement samples and compare system sizes. We do not claim a confirmed floating phase. Intermediate correlation momenta are insufficient evidence. The package includes raw arrays, code, saved parameters, an executed notebook, figures, and checks. This project has substantial AI assistance for code, analysis, and text. All reported results are local simulations. The practical lesson is to check the physics, report the circuit, and test the noise before trusting the map.</a:t>
            </a:r>
          </a:p>
          <a:p xmlns:a="http://schemas.openxmlformats.org/drawingml/2006/main">
            <a:r>
              <a:t/>
            </a:r>
          </a:p>
          <a:p xmlns:a="http://schemas.openxmlformats.org/drawingml/2006/main">
            <a:r>
              <a:t>Sources: Project variational_map/audit.json, data/finite_shots.json, and report.md. Floating-phase limits: https://arxiv.org/abs/2402.11022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9d370f4aa642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ae3eb807694791" /><Relationship Type="http://schemas.openxmlformats.org/officeDocument/2006/relationships/slideLayout" Target="/ppt/slideLayouts/slideLayout1.xml" Id="R1a88eaf15b5d4d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88eaf15b5d4d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e3966767c049b9" /><Relationship Type="http://schemas.openxmlformats.org/officeDocument/2006/relationships/notesSlide" Target="/ppt/notesSlides/notesSlide1.xml" Id="Re811f6272d51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6d6604a27245ac" /><Relationship Type="http://schemas.openxmlformats.org/officeDocument/2006/relationships/image" Target="/ppt/media/image.png" Id="R980043539a7e4c62" /><Relationship Type="http://schemas.openxmlformats.org/officeDocument/2006/relationships/notesSlide" Target="/ppt/notesSlides/notesSlide2.xml" Id="R98ea8deeba164e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fdd738543440e0" /><Relationship Type="http://schemas.openxmlformats.org/officeDocument/2006/relationships/image" Target="/ppt/media/image2.png" Id="R40a66ee7f5154fa6" /><Relationship Type="http://schemas.openxmlformats.org/officeDocument/2006/relationships/notesSlide" Target="/ppt/notesSlides/notesSlide3.xml" Id="Re792f0504e1e44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9313b68df84259" /><Relationship Type="http://schemas.openxmlformats.org/officeDocument/2006/relationships/notesSlide" Target="/ppt/notesSlides/notesSlide4.xml" Id="R3655cfef59c647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ad78708d09462f" /><Relationship Type="http://schemas.openxmlformats.org/officeDocument/2006/relationships/image" Target="/ppt/media/image3.png" Id="R08a1e212a72440ac" /><Relationship Type="http://schemas.openxmlformats.org/officeDocument/2006/relationships/notesSlide" Target="/ppt/notesSlides/notesSlide5.xml" Id="Ra0f6636dcba14b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29d7e4869b446b" /><Relationship Type="http://schemas.openxmlformats.org/officeDocument/2006/relationships/image" Target="/ppt/media/image4.png" Id="Raf6f4ff65ccf4eea" /><Relationship Type="http://schemas.openxmlformats.org/officeDocument/2006/relationships/notesSlide" Target="/ppt/notesSlides/notesSlide6.xml" Id="R3301c5586cb649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04f4ce1a6f4b00" /><Relationship Type="http://schemas.openxmlformats.org/officeDocument/2006/relationships/image" Target="/ppt/media/image5.png" Id="Rf921230e5aea479f" /><Relationship Type="http://schemas.openxmlformats.org/officeDocument/2006/relationships/notesSlide" Target="/ppt/notesSlides/notesSlide7.xml" Id="R86a3eac91b0047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3f45cf9c5447f1" /><Relationship Type="http://schemas.openxmlformats.org/officeDocument/2006/relationships/notesSlide" Target="/ppt/notesSlides/notesSlide8.xml" Id="Rdf6c0eebf8594717" /></Relationships>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44A48E-7F6C-4EC9-A828-21B8AB805590}"/>
              </a:ext>
            </a:extLst>
          </p:cNvPr>
          <p:cNvSpPr>
            <a:spLocks xmlns:a="http://schemas.openxmlformats.org/drawingml/2006/main" noGrp="1"/>
          </p:cNvSpPr>
          <p:nvPr/>
        </p:nvSpPr>
        <p:spPr>
          <a:xfrm xmlns:a="http://schemas.openxmlformats.org/drawingml/2006/main">
            <a:off x="609600" y="1333500"/>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02E3B"/>
                </a:solidFill>
                <a:latin typeface="Arial"/>
                <a:ea typeface="Arial"/>
                <a:cs typeface="Arial"/>
              </a:defRPr>
            </a:pPr>
            <a:r>
              <a:rPr sz="5400" b="1">
                <a:solidFill>
                  <a:srgbClr val="102E3B"/>
                </a:solidFill>
                <a:latin typeface="Arial"/>
                <a:ea typeface="Arial"/>
                <a:cs typeface="Arial"/>
              </a:rPr>
              <a:t>PhaseGuard</a:t>
            </a:r>
          </a:p>
        </p:txBody>
      </p:sp>
      <p:sp>
        <p:nvSpPr>
          <p:cNvPr id="2" name="">
            <a:extLst xmlns:a="http://schemas.openxmlformats.org/drawingml/2006/main">
              <a:ext uri="{FF2B5EF4-FFF2-40B4-BE49-F238E27FC236}">
                <a16:creationId xmlns:a16="http://schemas.microsoft.com/office/drawing/2014/main" id="{73E52A8F-7F4D-4709-8979-5B97A126297B}"/>
              </a:ext>
            </a:extLst>
          </p:cNvPr>
          <p:cNvSpPr>
            <a:spLocks xmlns:a="http://schemas.openxmlformats.org/drawingml/2006/main" noGrp="1"/>
          </p:cNvSpPr>
          <p:nvPr/>
        </p:nvSpPr>
        <p:spPr>
          <a:xfrm xmlns:a="http://schemas.openxmlformats.org/drawingml/2006/main">
            <a:off x="647700" y="3105150"/>
            <a:ext cx="10477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Gate noise and ANNNI phase detection</a:t>
            </a:r>
          </a:p>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Team Gaven</a:t>
            </a:r>
          </a:p>
          <a:p xmlns:a="http://schemas.openxmlformats.org/drawingml/2006/main">
            <a:pPr>
              <a:defRPr sz="2550" b="0">
                <a:solidFill>
                  <a:srgbClr val="183544"/>
                </a:solidFill>
                <a:latin typeface="Arial"/>
                <a:ea typeface="Arial"/>
                <a:cs typeface="Arial"/>
              </a:defRPr>
            </a:pPr>
            <a:r>
              <a:rPr sz="2550" b="0">
                <a:solidFill>
                  <a:srgbClr val="183544"/>
                </a:solidFill>
                <a:latin typeface="Arial"/>
                <a:ea typeface="Arial"/>
                <a:cs typeface="Arial"/>
              </a:rPr>
              <a:t>Q-SITE 2026 scientific challenge</a:t>
            </a:r>
          </a:p>
        </p:txBody>
      </p:sp>
      <p:sp>
        <p:nvSpPr>
          <p:cNvPr id="3" name="">
            <a:extLst xmlns:a="http://schemas.openxmlformats.org/drawingml/2006/main">
              <a:ext uri="{FF2B5EF4-FFF2-40B4-BE49-F238E27FC236}">
                <a16:creationId xmlns:a16="http://schemas.microsoft.com/office/drawing/2014/main" id="{16076FB7-7896-488D-9B47-6C5400BB39B9}"/>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Created with substantial AI assistance. This video uses a synthetic voice.</a:t>
            </a:r>
          </a:p>
        </p:txBody>
      </p:sp>
      <p:sp>
        <p:nvSpPr>
          <p:cNvPr id="4" name="">
            <a:extLst xmlns:a="http://schemas.openxmlformats.org/drawingml/2006/main">
              <a:ext uri="{FF2B5EF4-FFF2-40B4-BE49-F238E27FC236}">
                <a16:creationId xmlns:a16="http://schemas.microsoft.com/office/drawing/2014/main" id="{86E49468-50ED-49E5-9FAA-DD5C59225250}"/>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93B2BE84-FD71-4DB0-B5CE-DAF79228921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01</a:t>
            </a:r>
          </a:p>
        </p:txBody>
      </p:sp>
    </p:spTree>
    <p:extLst>
      <p:ext uri="{BB962C8B-B14F-4D97-AF65-F5344CB8AC3E}">
        <p14:creationId xmlns:p14="http://schemas.microsoft.com/office/powerpoint/2010/main" val="301083340"/>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1E769F-F800-44CE-A9B9-785885EAD51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Clean reference at 12 spins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80043539a7e4c62"/>
          <a:stretch xmlns:a="http://schemas.openxmlformats.org/drawingml/2006/main"/>
        </p:blipFill>
        <p:spPr>
          <a:xfrm xmlns:a="http://schemas.openxmlformats.org/drawingml/2006/main">
            <a:off x="523875" y="2021915"/>
            <a:ext cx="11144250" cy="332852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8BC4E4-58E3-4B84-A2AB-3934B5F230C2}"/>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Exact diagonalization. 41 × 41 grid. Black curves are reference estimates.</a:t>
            </a:r>
          </a:p>
        </p:txBody>
      </p:sp>
      <p:sp>
        <p:nvSpPr>
          <p:cNvPr id="4" name="">
            <a:extLst xmlns:a="http://schemas.openxmlformats.org/drawingml/2006/main">
              <a:ext uri="{FF2B5EF4-FFF2-40B4-BE49-F238E27FC236}">
                <a16:creationId xmlns:a16="http://schemas.microsoft.com/office/drawing/2014/main" id="{D8576152-5466-458C-9542-1AA7A66E9C76}"/>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99712460-D927-4902-9143-76490B8945D9}"/>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02</a:t>
            </a:r>
          </a:p>
        </p:txBody>
      </p:sp>
    </p:spTree>
    <p:extLst>
      <p:ext uri="{BB962C8B-B14F-4D97-AF65-F5344CB8AC3E}">
        <p14:creationId xmlns:p14="http://schemas.microsoft.com/office/powerpoint/2010/main" val="593551205"/>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1A087C-CA14-49EC-86E8-8C4F413EFFB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System size changes the phase estimate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0a66ee7f5154fa6"/>
          <a:stretch xmlns:a="http://schemas.openxmlformats.org/drawingml/2006/main"/>
        </p:blipFill>
        <p:spPr>
          <a:xfrm xmlns:a="http://schemas.openxmlformats.org/drawingml/2006/main">
            <a:off x="523875" y="1938793"/>
            <a:ext cx="11144250" cy="349476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E93190-EDC4-4428-9A9D-5AD61EFF6CE6}"/>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Fidelity susceptibility for N = 8, 12, 16. Field spacing is 0.02.</a:t>
            </a:r>
          </a:p>
        </p:txBody>
      </p:sp>
      <p:sp>
        <p:nvSpPr>
          <p:cNvPr id="4" name="">
            <a:extLst xmlns:a="http://schemas.openxmlformats.org/drawingml/2006/main">
              <a:ext uri="{FF2B5EF4-FFF2-40B4-BE49-F238E27FC236}">
                <a16:creationId xmlns:a16="http://schemas.microsoft.com/office/drawing/2014/main" id="{CAB56B18-3B23-455D-875E-9B6E17957150}"/>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7751C63E-656F-4613-8695-C9DD38C5592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03</a:t>
            </a:r>
          </a:p>
        </p:txBody>
      </p:sp>
    </p:spTree>
    <p:extLst>
      <p:ext uri="{BB962C8B-B14F-4D97-AF65-F5344CB8AC3E}">
        <p14:creationId xmlns:p14="http://schemas.microsoft.com/office/powerpoint/2010/main" val="597673249"/>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E5EBC1-0083-4BA7-8F78-9645282EE9C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Noise acts during state preparation</a:t>
            </a:r>
          </a:p>
        </p:txBody>
      </p:sp>
      <p:sp>
        <p:nvSpPr>
          <p:cNvPr id="2" name="">
            <a:extLst xmlns:a="http://schemas.openxmlformats.org/drawingml/2006/main">
              <a:ext uri="{FF2B5EF4-FFF2-40B4-BE49-F238E27FC236}">
                <a16:creationId xmlns:a16="http://schemas.microsoft.com/office/drawing/2014/main" id="{02896C45-3BC5-44DF-AF68-B7FB8E2AA79E}"/>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8 spins, 15 × 15 parameter grid</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4 layers: 32 RY gates and 28 CNOTs</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Target depolarization after every CNOT</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Fixed clean parameters at p = 0, 0.01, 0.05</a:t>
            </a:r>
          </a:p>
        </p:txBody>
      </p:sp>
      <p:sp>
        <p:nvSpPr>
          <p:cNvPr id="3" name="">
            <a:extLst xmlns:a="http://schemas.openxmlformats.org/drawingml/2006/main">
              <a:ext uri="{FF2B5EF4-FFF2-40B4-BE49-F238E27FC236}">
                <a16:creationId xmlns:a16="http://schemas.microsoft.com/office/drawing/2014/main" id="{10AB70C5-43B8-4209-8EBB-0121DAAC6987}"/>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All circuits start in |0…0⟩. One-qubit gates and direct Z measurement are ideal.</a:t>
            </a:r>
          </a:p>
        </p:txBody>
      </p:sp>
      <p:sp>
        <p:nvSpPr>
          <p:cNvPr id="4" name="">
            <a:extLst xmlns:a="http://schemas.openxmlformats.org/drawingml/2006/main">
              <a:ext uri="{FF2B5EF4-FFF2-40B4-BE49-F238E27FC236}">
                <a16:creationId xmlns:a16="http://schemas.microsoft.com/office/drawing/2014/main" id="{43CD60F8-3456-41F7-8DDD-435B5B41EA45}"/>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562D015B-8FD5-4E50-A62E-8A749AE6ABFF}"/>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04</a:t>
            </a:r>
          </a:p>
        </p:txBody>
      </p:sp>
    </p:spTree>
    <p:extLst>
      <p:ext uri="{BB962C8B-B14F-4D97-AF65-F5344CB8AC3E}">
        <p14:creationId xmlns:p14="http://schemas.microsoft.com/office/powerpoint/2010/main" val="811042912"/>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20A670-85B6-4447-91D9-5FF1458003E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Most order remains visible at p = 0.01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8a1e212a72440ac"/>
          <a:stretch xmlns:a="http://schemas.openxmlformats.org/drawingml/2006/main"/>
        </p:blipFill>
        <p:spPr>
          <a:xfrm xmlns:a="http://schemas.openxmlformats.org/drawingml/2006/main">
            <a:off x="523875" y="1530104"/>
            <a:ext cx="11144250" cy="431214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A59BCA-0F03-48B8-ABAB-93B2C2C68671}"/>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67 of 70 ordered labels remain at p = 0.01. Circles mark clean fidelity below 0.95.</a:t>
            </a:r>
          </a:p>
        </p:txBody>
      </p:sp>
      <p:sp>
        <p:nvSpPr>
          <p:cNvPr id="4" name="">
            <a:extLst xmlns:a="http://schemas.openxmlformats.org/drawingml/2006/main">
              <a:ext uri="{FF2B5EF4-FFF2-40B4-BE49-F238E27FC236}">
                <a16:creationId xmlns:a16="http://schemas.microsoft.com/office/drawing/2014/main" id="{06CFB406-9D36-47B5-904A-49EF72C8D9E1}"/>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7D10BC95-3266-416A-9A8E-024C2B07FBF0}"/>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05</a:t>
            </a:r>
          </a:p>
        </p:txBody>
      </p:sp>
    </p:spTree>
    <p:extLst>
      <p:ext uri="{BB962C8B-B14F-4D97-AF65-F5344CB8AC3E}">
        <p14:creationId xmlns:p14="http://schemas.microsoft.com/office/powerpoint/2010/main" val="1644528866"/>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B0DF99-AD0B-487B-8AB9-D323B2149E9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Fewer CNOTs preserve more of the state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f6f4ff65ccf4eea"/>
          <a:stretch xmlns:a="http://schemas.openxmlformats.org/drawingml/2006/main"/>
        </p:blipFill>
        <p:spPr>
          <a:xfrm xmlns:a="http://schemas.openxmlformats.org/drawingml/2006/main">
            <a:off x="523875" y="1887562"/>
            <a:ext cx="11144250" cy="359722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C7EEDD-A310-4F32-B85D-1FD5C97EC370}"/>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Same three parameter points and error probabilities. Both circuits start in |0…0⟩.</a:t>
            </a:r>
          </a:p>
        </p:txBody>
      </p:sp>
      <p:sp>
        <p:nvSpPr>
          <p:cNvPr id="4" name="">
            <a:extLst xmlns:a="http://schemas.openxmlformats.org/drawingml/2006/main">
              <a:ext uri="{FF2B5EF4-FFF2-40B4-BE49-F238E27FC236}">
                <a16:creationId xmlns:a16="http://schemas.microsoft.com/office/drawing/2014/main" id="{33622284-B73B-42F9-A9DB-EEFCE516CF4B}"/>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CED6341D-282F-4BD5-81A4-EE5B006373CA}"/>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06</a:t>
            </a:r>
          </a:p>
        </p:txBody>
      </p:sp>
    </p:spTree>
    <p:extLst>
      <p:ext uri="{BB962C8B-B14F-4D97-AF65-F5344CB8AC3E}">
        <p14:creationId xmlns:p14="http://schemas.microsoft.com/office/powerpoint/2010/main" val="576760800"/>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FF148B-2296-4188-95E0-05DA4FB79D6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Mitigation recovers part of the lost order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921230e5aea479f"/>
          <a:stretch xmlns:a="http://schemas.openxmlformats.org/drawingml/2006/main"/>
        </p:blipFill>
        <p:spPr>
          <a:xfrm xmlns:a="http://schemas.openxmlformats.org/drawingml/2006/main">
            <a:off x="523875" y="1726307"/>
            <a:ext cx="11144250" cy="391973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5B4594-76D8-40E0-AD80-1B2FD63C3012}"/>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Exact loader: 99 of 127 ordered labels return at p = 0.01. Numerical noise scaling.</a:t>
            </a:r>
          </a:p>
        </p:txBody>
      </p:sp>
      <p:sp>
        <p:nvSpPr>
          <p:cNvPr id="4" name="">
            <a:extLst xmlns:a="http://schemas.openxmlformats.org/drawingml/2006/main">
              <a:ext uri="{FF2B5EF4-FFF2-40B4-BE49-F238E27FC236}">
                <a16:creationId xmlns:a16="http://schemas.microsoft.com/office/drawing/2014/main" id="{CE692022-83A2-464A-B1A0-A13504D962FD}"/>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0C965EC3-76B0-4FFA-BD5F-E59A9E529621}"/>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07</a:t>
            </a:r>
          </a:p>
        </p:txBody>
      </p:sp>
    </p:spTree>
    <p:extLst>
      <p:ext uri="{BB962C8B-B14F-4D97-AF65-F5344CB8AC3E}">
        <p14:creationId xmlns:p14="http://schemas.microsoft.com/office/powerpoint/2010/main" val="1398487589"/>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9755F8-2237-40BA-9470-1413B94EEA7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E3B"/>
                </a:solidFill>
                <a:latin typeface="Arial"/>
                <a:ea typeface="Arial"/>
                <a:cs typeface="Arial"/>
              </a:defRPr>
            </a:pPr>
            <a:r>
              <a:rPr sz="3300" b="1">
                <a:solidFill>
                  <a:srgbClr val="102E3B"/>
                </a:solidFill>
                <a:latin typeface="Arial"/>
                <a:ea typeface="Arial"/>
                <a:cs typeface="Arial"/>
              </a:rPr>
              <a:t>Evidence and limits</a:t>
            </a:r>
          </a:p>
        </p:txBody>
      </p:sp>
      <p:sp>
        <p:nvSpPr>
          <p:cNvPr id="2" name="">
            <a:extLst xmlns:a="http://schemas.openxmlformats.org/drawingml/2006/main">
              <a:ext uri="{FF2B5EF4-FFF2-40B4-BE49-F238E27FC236}">
                <a16:creationId xmlns:a16="http://schemas.microsoft.com/office/drawing/2014/main" id="{C056A72C-4A1E-4B69-AF4E-C9540EE6F1DA}"/>
              </a:ext>
            </a:extLst>
          </p:cNvPr>
          <p:cNvSpPr>
            <a:spLocks xmlns:a="http://schemas.openxmlformats.org/drawingml/2006/main" noGrp="1"/>
          </p:cNvSpPr>
          <p:nvPr/>
        </p:nvSpPr>
        <p:spPr>
          <a:xfrm xmlns:a="http://schemas.openxmlformats.org/drawingml/2006/main">
            <a:off x="685800" y="1695450"/>
            <a:ext cx="1066800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221 / 225 clean labels agree with exact results.</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12 points have clean fidelity below 0.95.</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Raw data, parameters, and an executed notebook</a:t>
            </a:r>
          </a:p>
          <a:p xmlns:a="http://schemas.openxmlformats.org/drawingml/2006/main">
            <a:r>
              <a:t/>
            </a:r>
          </a:p>
          <a:p xmlns:a="http://schemas.openxmlformats.org/drawingml/2006/main">
            <a:pPr>
              <a:defRPr sz="2400" b="0">
                <a:solidFill>
                  <a:srgbClr val="183544"/>
                </a:solidFill>
                <a:latin typeface="Arial"/>
                <a:ea typeface="Arial"/>
                <a:cs typeface="Arial"/>
              </a:defRPr>
            </a:pPr>
            <a:r>
              <a:rPr sz="2400" b="0">
                <a:solidFill>
                  <a:srgbClr val="183544"/>
                </a:solidFill>
                <a:latin typeface="Arial"/>
                <a:ea typeface="Arial"/>
                <a:cs typeface="Arial"/>
              </a:rPr>
              <a:t>Finite-size and measurement-sampling checks</a:t>
            </a:r>
          </a:p>
        </p:txBody>
      </p:sp>
      <p:sp>
        <p:nvSpPr>
          <p:cNvPr id="3" name="">
            <a:extLst xmlns:a="http://schemas.openxmlformats.org/drawingml/2006/main">
              <a:ext uri="{FF2B5EF4-FFF2-40B4-BE49-F238E27FC236}">
                <a16:creationId xmlns:a16="http://schemas.microsoft.com/office/drawing/2014/main" id="{0660177D-E1E3-4B4C-BCFA-A395AADA4F97}"/>
              </a:ext>
            </a:extLst>
          </p:cNvPr>
          <p:cNvSpPr>
            <a:spLocks xmlns:a="http://schemas.openxmlformats.org/drawingml/2006/main" noGrp="1"/>
          </p:cNvSpPr>
          <p:nvPr/>
        </p:nvSpPr>
        <p:spPr>
          <a:xfrm xmlns:a="http://schemas.openxmlformats.org/drawingml/2006/main">
            <a:off x="628650" y="5962650"/>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6D"/>
                </a:solidFill>
                <a:latin typeface="Arial"/>
                <a:ea typeface="Arial"/>
                <a:cs typeface="Arial"/>
              </a:defRPr>
            </a:pPr>
            <a:r>
              <a:rPr sz="1500" b="0">
                <a:solidFill>
                  <a:srgbClr val="50646D"/>
                </a:solidFill>
                <a:latin typeface="Arial"/>
                <a:ea typeface="Arial"/>
                <a:cs typeface="Arial"/>
              </a:rPr>
              <a:t>Local simulations. Sources and substantial AI assistance are disclosed in the report.</a:t>
            </a:r>
          </a:p>
        </p:txBody>
      </p:sp>
      <p:sp>
        <p:nvSpPr>
          <p:cNvPr id="4" name="">
            <a:extLst xmlns:a="http://schemas.openxmlformats.org/drawingml/2006/main">
              <a:ext uri="{FF2B5EF4-FFF2-40B4-BE49-F238E27FC236}">
                <a16:creationId xmlns:a16="http://schemas.microsoft.com/office/drawing/2014/main" id="{85EE1A9A-9038-430E-8CA7-41B8C22A425B}"/>
              </a:ext>
            </a:extLst>
          </p:cNvPr>
          <p:cNvSpPr>
            <a:spLocks xmlns:a="http://schemas.openxmlformats.org/drawingml/2006/main" noGrp="1"/>
          </p:cNvSpPr>
          <p:nvPr/>
        </p:nvSpPr>
        <p:spPr>
          <a:xfrm xmlns:a="http://schemas.openxmlformats.org/drawingml/2006/main">
            <a:off x="628650" y="650557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A82"/>
                </a:solidFill>
                <a:latin typeface="Arial"/>
                <a:ea typeface="Arial"/>
                <a:cs typeface="Arial"/>
              </a:defRPr>
            </a:pPr>
            <a:r>
              <a:rPr sz="1200" b="0">
                <a:solidFill>
                  <a:srgbClr val="667A82"/>
                </a:solidFill>
                <a:latin typeface="Arial"/>
                <a:ea typeface="Arial"/>
                <a:cs typeface="Arial"/>
              </a:rPr>
              <a:t>PhaseGuard  /  Q-SITE 2026</a:t>
            </a:r>
          </a:p>
        </p:txBody>
      </p:sp>
      <p:sp>
        <p:nvSpPr>
          <p:cNvPr id="5" name="">
            <a:extLst xmlns:a="http://schemas.openxmlformats.org/drawingml/2006/main">
              <a:ext uri="{FF2B5EF4-FFF2-40B4-BE49-F238E27FC236}">
                <a16:creationId xmlns:a16="http://schemas.microsoft.com/office/drawing/2014/main" id="{6B2F801C-0654-4874-854A-86BD5BDBCD02}"/>
              </a:ext>
            </a:extLst>
          </p:cNvPr>
          <p:cNvSpPr>
            <a:spLocks xmlns:a="http://schemas.openxmlformats.org/drawingml/2006/main" noGrp="1"/>
          </p:cNvSpPr>
          <p:nvPr/>
        </p:nvSpPr>
        <p:spPr>
          <a:xfrm xmlns:a="http://schemas.openxmlformats.org/drawingml/2006/main">
            <a:off x="11220450" y="645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A82"/>
                </a:solidFill>
                <a:latin typeface="Arial"/>
                <a:ea typeface="Arial"/>
                <a:cs typeface="Arial"/>
              </a:defRPr>
            </a:pPr>
            <a:r>
              <a:rPr sz="1425" b="0">
                <a:solidFill>
                  <a:srgbClr val="667A82"/>
                </a:solidFill>
                <a:latin typeface="Arial"/>
                <a:ea typeface="Arial"/>
                <a:cs typeface="Arial"/>
              </a:rPr>
              <a:t>08</a:t>
            </a:r>
          </a:p>
        </p:txBody>
      </p:sp>
    </p:spTree>
    <p:extLst>
      <p:ext uri="{BB962C8B-B14F-4D97-AF65-F5344CB8AC3E}">
        <p14:creationId xmlns:p14="http://schemas.microsoft.com/office/powerpoint/2010/main" val="836937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2026-09-26T00:36:36.7750000Z</dcterms:created>
  <dcterms:modified xsi:type="dcterms:W3CDTF">2026-09-26T00:36:36.7750000Z</dcterms:modified>
</coreProperties>
</file>